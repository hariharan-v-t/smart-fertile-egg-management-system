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0DB058-602B-4AE2-A575-6C3CB7F63E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9B3328-AF97-45A4-9F39-7C52646CA7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ED67D0-D638-4CA9-A3AC-727FA0C740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149A7B-0AFA-421E-AEC3-67A04F3526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79A364-CD20-4E13-8D55-2DF8D650C0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35F568-0956-4316-B5A9-0E9F1A5DDD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59791C-81F3-4ADF-A873-7DBBAC6C74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1067E0-33A8-4CE2-9F04-C44CBCB0DA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FBFAAF-8037-44E9-B258-72FCE2EF55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DCABDA-9B64-45D3-9178-041007ED09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9F99FC-E5AB-4810-94CF-652A467EE6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bait_logo.png"/>
          <p:cNvPicPr/>
          <p:nvPr/>
        </p:nvPicPr>
        <p:blipFill>
          <a:blip r:embed="rId1"/>
          <a:stretch/>
        </p:blipFill>
        <p:spPr>
          <a:xfrm>
            <a:off x="255960" y="146160"/>
            <a:ext cx="964800" cy="7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g-000.jpg"/>
          <p:cNvPicPr/>
          <p:nvPr/>
        </p:nvPicPr>
        <p:blipFill>
          <a:blip r:embed="rId2"/>
          <a:stretch/>
        </p:blipFill>
        <p:spPr>
          <a:xfrm>
            <a:off x="11109960" y="201240"/>
            <a:ext cx="90180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0" y="128160"/>
            <a:ext cx="12191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487C"/>
                </a:solidFill>
                <a:effectLst/>
                <a:uFillTx/>
                <a:latin typeface="Georgia"/>
              </a:rPr>
              <a:t>EMBRIX’26 VEGATHON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0" y="42048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HATCHX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0" y="6483240"/>
            <a:ext cx="12191400" cy="374400"/>
          </a:xfrm>
          <a:prstGeom prst="rect">
            <a:avLst/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0" y="93276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55B61"/>
                </a:solidFill>
                <a:effectLst/>
                <a:uFillTx/>
                <a:latin typeface="Georgia"/>
              </a:rPr>
              <a:t>Smart Fertile Egg Lifecycle Management System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280160" y="1353240"/>
            <a:ext cx="962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An Intelligent Fertile Egg Lifecycle Management System for Controlled Storage, Incubation and Hatching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0" y="184716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i="1" u="none" strike="noStrike">
                <a:solidFill>
                  <a:srgbClr val="C88A1E"/>
                </a:solidFill>
                <a:effectLst/>
                <a:uFillTx/>
                <a:latin typeface="Georgia"/>
              </a:rPr>
              <a:t>“From Storage to Hatch — Smarter.”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4937760" y="2286000"/>
            <a:ext cx="2313000" cy="18000"/>
          </a:xfrm>
          <a:prstGeom prst="rect">
            <a:avLst/>
          </a:prstGeom>
          <a:solidFill>
            <a:srgbClr val="CDD6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ounded Rectangle 10"/>
          <p:cNvSpPr/>
          <p:nvPr/>
        </p:nvSpPr>
        <p:spPr>
          <a:xfrm>
            <a:off x="502920" y="2606040"/>
            <a:ext cx="4160160" cy="383760"/>
          </a:xfrm>
          <a:prstGeom prst="roundRect">
            <a:avLst>
              <a:gd name="adj" fmla="val 12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PROJECT DETAILS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1"/>
          <p:cNvSpPr/>
          <p:nvPr/>
        </p:nvSpPr>
        <p:spPr>
          <a:xfrm>
            <a:off x="502920" y="2990160"/>
            <a:ext cx="4160160" cy="315432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777240" y="3200400"/>
            <a:ext cx="3611520" cy="11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Aft>
                <a:spcPts val="1400"/>
              </a:spcAft>
            </a:pPr>
            <a:r>
              <a:rPr lang="en-US" sz="11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11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Problem Statement Title— Intelligent Fertile Egg Lifecycle Management System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400"/>
              </a:spcAft>
            </a:pPr>
            <a:r>
              <a:rPr lang="en-US" sz="11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11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Track— Track 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400"/>
              </a:spcAft>
            </a:pPr>
            <a:r>
              <a:rPr lang="en-US" sz="11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11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Team Name — TechForge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77240" y="5806440"/>
            <a:ext cx="361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i="1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Controller: VEGA ARIES v2.0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4"/>
          <p:cNvSpPr/>
          <p:nvPr/>
        </p:nvSpPr>
        <p:spPr>
          <a:xfrm>
            <a:off x="4937760" y="2606040"/>
            <a:ext cx="6747840" cy="383760"/>
          </a:xfrm>
          <a:prstGeom prst="roundRect">
            <a:avLst>
              <a:gd name="adj" fmla="val 12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FERTILE EGG LIFECYCLE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5"/>
          <p:cNvSpPr/>
          <p:nvPr/>
        </p:nvSpPr>
        <p:spPr>
          <a:xfrm>
            <a:off x="4937760" y="2990160"/>
            <a:ext cx="6747840" cy="315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Oval 16"/>
          <p:cNvSpPr/>
          <p:nvPr/>
        </p:nvSpPr>
        <p:spPr>
          <a:xfrm>
            <a:off x="5257800" y="3977640"/>
            <a:ext cx="1051200" cy="959760"/>
          </a:xfrm>
          <a:prstGeom prst="ellipse">
            <a:avLst/>
          </a:prstGeom>
          <a:solidFill>
            <a:srgbClr val="F3F6FA"/>
          </a:solidFill>
          <a:ln w="1778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45000" rIns="255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FERTILE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EGG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ight Arrow 17"/>
          <p:cNvSpPr/>
          <p:nvPr/>
        </p:nvSpPr>
        <p:spPr>
          <a:xfrm>
            <a:off x="6309360" y="4380120"/>
            <a:ext cx="216720" cy="155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0320" rIns="90000" bIns="40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ounded Rectangle 18"/>
          <p:cNvSpPr/>
          <p:nvPr/>
        </p:nvSpPr>
        <p:spPr>
          <a:xfrm>
            <a:off x="6526440" y="3977640"/>
            <a:ext cx="1051200" cy="959760"/>
          </a:xfrm>
          <a:prstGeom prst="roundRect">
            <a:avLst>
              <a:gd name="adj" fmla="val 22000"/>
            </a:avLst>
          </a:prstGeom>
          <a:solidFill>
            <a:srgbClr val="F3F6FA"/>
          </a:solidFill>
          <a:ln w="1778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45000" rIns="255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CONTROLLED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STORAGE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ight Arrow 19"/>
          <p:cNvSpPr/>
          <p:nvPr/>
        </p:nvSpPr>
        <p:spPr>
          <a:xfrm>
            <a:off x="7578000" y="4380120"/>
            <a:ext cx="216720" cy="155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0320" rIns="90000" bIns="40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20"/>
          <p:cNvSpPr/>
          <p:nvPr/>
        </p:nvSpPr>
        <p:spPr>
          <a:xfrm>
            <a:off x="7795440" y="3977640"/>
            <a:ext cx="1051200" cy="959760"/>
          </a:xfrm>
          <a:prstGeom prst="roundRect">
            <a:avLst>
              <a:gd name="adj" fmla="val 22000"/>
            </a:avLst>
          </a:prstGeom>
          <a:solidFill>
            <a:srgbClr val="F3F6FA"/>
          </a:solidFill>
          <a:ln w="1778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45000" rIns="255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INCUBATION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ight Arrow 21"/>
          <p:cNvSpPr/>
          <p:nvPr/>
        </p:nvSpPr>
        <p:spPr>
          <a:xfrm>
            <a:off x="8847000" y="4380120"/>
            <a:ext cx="216720" cy="155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0320" rIns="90000" bIns="40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ounded Rectangle 22"/>
          <p:cNvSpPr/>
          <p:nvPr/>
        </p:nvSpPr>
        <p:spPr>
          <a:xfrm>
            <a:off x="9064080" y="3977640"/>
            <a:ext cx="1051200" cy="959760"/>
          </a:xfrm>
          <a:prstGeom prst="roundRect">
            <a:avLst>
              <a:gd name="adj" fmla="val 22000"/>
            </a:avLst>
          </a:prstGeom>
          <a:solidFill>
            <a:srgbClr val="F3F6FA"/>
          </a:solidFill>
          <a:ln w="1778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45000" rIns="255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HATCHING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ight Arrow 23"/>
          <p:cNvSpPr/>
          <p:nvPr/>
        </p:nvSpPr>
        <p:spPr>
          <a:xfrm>
            <a:off x="10115640" y="4380120"/>
            <a:ext cx="216720" cy="155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0320" rIns="90000" bIns="40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Oval 24"/>
          <p:cNvSpPr/>
          <p:nvPr/>
        </p:nvSpPr>
        <p:spPr>
          <a:xfrm>
            <a:off x="10332720" y="3977640"/>
            <a:ext cx="1051200" cy="959760"/>
          </a:xfrm>
          <a:prstGeom prst="ellipse">
            <a:avLst/>
          </a:prstGeom>
          <a:solidFill>
            <a:srgbClr val="FBF1DD"/>
          </a:solidFill>
          <a:ln w="17780">
            <a:solidFill>
              <a:srgbClr val="C88A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45000" rIns="255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CHICK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5257800" y="5166360"/>
            <a:ext cx="6126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50" b="0" i="1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HATCHX manages the complete journey — from pre-incubation storage, through incubation, to hatching — as one continuous, monitored lifecycle.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bait_logo.png"/>
          <p:cNvPicPr/>
          <p:nvPr/>
        </p:nvPicPr>
        <p:blipFill>
          <a:blip r:embed="rId1"/>
          <a:stretch/>
        </p:blipFill>
        <p:spPr>
          <a:xfrm>
            <a:off x="255960" y="146160"/>
            <a:ext cx="964800" cy="7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2" descr="img-000.jpg"/>
          <p:cNvPicPr/>
          <p:nvPr/>
        </p:nvPicPr>
        <p:blipFill>
          <a:blip r:embed="rId2"/>
          <a:stretch/>
        </p:blipFill>
        <p:spPr>
          <a:xfrm>
            <a:off x="11109960" y="201240"/>
            <a:ext cx="90180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3"/>
          <p:cNvSpPr/>
          <p:nvPr/>
        </p:nvSpPr>
        <p:spPr>
          <a:xfrm>
            <a:off x="0" y="201240"/>
            <a:ext cx="1219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IDEA TITLE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4"/>
          <p:cNvSpPr/>
          <p:nvPr/>
        </p:nvSpPr>
        <p:spPr>
          <a:xfrm>
            <a:off x="0" y="6483240"/>
            <a:ext cx="12191400" cy="374400"/>
          </a:xfrm>
          <a:prstGeom prst="rect">
            <a:avLst/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0" y="74988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555B61"/>
                </a:solidFill>
                <a:effectLst/>
                <a:uFillTx/>
                <a:latin typeface="Georgia"/>
              </a:rPr>
              <a:t>HATCHX — Intelligent Fertile Egg Lifecycle Management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6"/>
          <p:cNvSpPr/>
          <p:nvPr/>
        </p:nvSpPr>
        <p:spPr>
          <a:xfrm>
            <a:off x="457200" y="1234440"/>
            <a:ext cx="3675600" cy="365400"/>
          </a:xfrm>
          <a:prstGeom prst="roundRect">
            <a:avLst>
              <a:gd name="adj" fmla="val 12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THE PROBLEM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7"/>
          <p:cNvSpPr/>
          <p:nvPr/>
        </p:nvSpPr>
        <p:spPr>
          <a:xfrm>
            <a:off x="457200" y="1600200"/>
            <a:ext cx="3675600" cy="159984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621720" y="1737360"/>
            <a:ext cx="33462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Fertile eggs may sit unincubated before entering an incubator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Poor pre-incubation storage can affect embryo viability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Temperature, humidity &amp; storage duration need consistent tracking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Manual orientation &amp; monitoring is inconsistent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9"/>
          <p:cNvSpPr/>
          <p:nvPr/>
        </p:nvSpPr>
        <p:spPr>
          <a:xfrm>
            <a:off x="4297680" y="1234440"/>
            <a:ext cx="3675600" cy="365400"/>
          </a:xfrm>
          <a:prstGeom prst="roundRect">
            <a:avLst>
              <a:gd name="adj" fmla="val 12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THE PROPOSED SOLUTION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0"/>
          <p:cNvSpPr/>
          <p:nvPr/>
        </p:nvSpPr>
        <p:spPr>
          <a:xfrm>
            <a:off x="4297680" y="1600200"/>
            <a:ext cx="3675600" cy="159984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4462200" y="1737360"/>
            <a:ext cx="33462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Integrates Storage + Incubation + Hatching in one system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Monitors temperature &amp; humidity via VEGA ARIES v2.0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Tracks duration using an onboard RTC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Auto-rotates the egg tray; mode-specific control + local alerts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2"/>
          <p:cNvSpPr/>
          <p:nvPr/>
        </p:nvSpPr>
        <p:spPr>
          <a:xfrm>
            <a:off x="8138160" y="1234440"/>
            <a:ext cx="3675600" cy="365400"/>
          </a:xfrm>
          <a:prstGeom prst="roundRect">
            <a:avLst>
              <a:gd name="adj" fmla="val 12000"/>
            </a:avLst>
          </a:prstGeom>
          <a:solidFill>
            <a:srgbClr val="C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INNOVATION &amp; UNIQUENESS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3"/>
          <p:cNvSpPr/>
          <p:nvPr/>
        </p:nvSpPr>
        <p:spPr>
          <a:xfrm>
            <a:off x="8138160" y="1600200"/>
            <a:ext cx="3675600" cy="1599840"/>
          </a:xfrm>
          <a:prstGeom prst="roundRect">
            <a:avLst>
              <a:gd name="adj" fmla="val 4000"/>
            </a:avLst>
          </a:prstGeom>
          <a:solidFill>
            <a:srgbClr val="FBF1DD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4"/>
          <p:cNvSpPr/>
          <p:nvPr/>
        </p:nvSpPr>
        <p:spPr>
          <a:xfrm>
            <a:off x="8302680" y="1737360"/>
            <a:ext cx="33462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Focuses on the often-overlooked pre-incubation stage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Combines storage + incubation + hatching management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Low-cost, modular embedded architecture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Performance validated using hatchability &amp; wastage data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5"/>
          <p:cNvSpPr/>
          <p:nvPr/>
        </p:nvSpPr>
        <p:spPr>
          <a:xfrm>
            <a:off x="457200" y="3337560"/>
            <a:ext cx="11274120" cy="566640"/>
          </a:xfrm>
          <a:prstGeom prst="roundRect">
            <a:avLst>
              <a:gd name="adj" fmla="val 28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127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i="1" u="none" strike="noStrike">
                <a:solidFill>
                  <a:srgbClr val="F3C96A"/>
                </a:solidFill>
                <a:effectLst/>
                <a:uFillTx/>
                <a:latin typeface="Georgia"/>
              </a:rPr>
              <a:t>“Instead of treating incubation as an isolated process, HATCHX manages the fertile egg as a continuous lifecycle — from storage to hatch.”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6"/>
          <p:cNvSpPr/>
          <p:nvPr/>
        </p:nvSpPr>
        <p:spPr>
          <a:xfrm>
            <a:off x="457200" y="4069080"/>
            <a:ext cx="1127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FERTILE-EGG LIFECYCLE FLOW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7"/>
          <p:cNvSpPr/>
          <p:nvPr/>
        </p:nvSpPr>
        <p:spPr>
          <a:xfrm>
            <a:off x="311040" y="4416480"/>
            <a:ext cx="2514240" cy="141696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PRE-INCUBATION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STORAGE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Monitor · Track · Orient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ight Arrow 18"/>
          <p:cNvSpPr/>
          <p:nvPr/>
        </p:nvSpPr>
        <p:spPr>
          <a:xfrm>
            <a:off x="2825640" y="5042880"/>
            <a:ext cx="50256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ounded Rectangle 19"/>
          <p:cNvSpPr/>
          <p:nvPr/>
        </p:nvSpPr>
        <p:spPr>
          <a:xfrm>
            <a:off x="3328560" y="4416480"/>
            <a:ext cx="2514240" cy="141696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INCUBATION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Environment · Turning · Day Tracking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ight Arrow 20"/>
          <p:cNvSpPr/>
          <p:nvPr/>
        </p:nvSpPr>
        <p:spPr>
          <a:xfrm>
            <a:off x="5843160" y="5042880"/>
            <a:ext cx="50256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ounded Rectangle 21"/>
          <p:cNvSpPr/>
          <p:nvPr/>
        </p:nvSpPr>
        <p:spPr>
          <a:xfrm>
            <a:off x="6346080" y="4416480"/>
            <a:ext cx="2514240" cy="141696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HATCHING 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LOCKDOWN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Stop Turning · Monitor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ight Arrow 22"/>
          <p:cNvSpPr/>
          <p:nvPr/>
        </p:nvSpPr>
        <p:spPr>
          <a:xfrm>
            <a:off x="8860680" y="5042880"/>
            <a:ext cx="50256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ounded Rectangle 23"/>
          <p:cNvSpPr/>
          <p:nvPr/>
        </p:nvSpPr>
        <p:spPr>
          <a:xfrm>
            <a:off x="9363600" y="4416480"/>
            <a:ext cx="2514240" cy="1416960"/>
          </a:xfrm>
          <a:prstGeom prst="roundRect">
            <a:avLst>
              <a:gd name="adj" fmla="val 16000"/>
            </a:avLst>
          </a:prstGeom>
          <a:solidFill>
            <a:srgbClr val="FBF1DD"/>
          </a:solidFill>
          <a:ln w="15875">
            <a:solidFill>
              <a:srgbClr val="C88A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HATCH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Chick Emergence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4"/>
          <p:cNvSpPr/>
          <p:nvPr/>
        </p:nvSpPr>
        <p:spPr>
          <a:xfrm>
            <a:off x="457200" y="6035040"/>
            <a:ext cx="1127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FERTILE EGGS → the cycle above → HATCH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" descr="bait_logo.png"/>
          <p:cNvPicPr/>
          <p:nvPr/>
        </p:nvPicPr>
        <p:blipFill>
          <a:blip r:embed="rId1"/>
          <a:stretch/>
        </p:blipFill>
        <p:spPr>
          <a:xfrm>
            <a:off x="255960" y="146160"/>
            <a:ext cx="964800" cy="7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2" descr="img-000.jpg"/>
          <p:cNvPicPr/>
          <p:nvPr/>
        </p:nvPicPr>
        <p:blipFill>
          <a:blip r:embed="rId2"/>
          <a:stretch/>
        </p:blipFill>
        <p:spPr>
          <a:xfrm>
            <a:off x="11109960" y="201240"/>
            <a:ext cx="90180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Box 3"/>
          <p:cNvSpPr/>
          <p:nvPr/>
        </p:nvSpPr>
        <p:spPr>
          <a:xfrm>
            <a:off x="0" y="201240"/>
            <a:ext cx="1219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TECHNICAL APPROACH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4"/>
          <p:cNvSpPr/>
          <p:nvPr/>
        </p:nvSpPr>
        <p:spPr>
          <a:xfrm>
            <a:off x="0" y="6483240"/>
            <a:ext cx="12191400" cy="374400"/>
          </a:xfrm>
          <a:prstGeom prst="rect">
            <a:avLst/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ounded Rectangle 5"/>
          <p:cNvSpPr/>
          <p:nvPr/>
        </p:nvSpPr>
        <p:spPr>
          <a:xfrm>
            <a:off x="502920" y="1051560"/>
            <a:ext cx="2331360" cy="5666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DHT11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Temperature + Humidity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6"/>
          <p:cNvSpPr/>
          <p:nvPr/>
        </p:nvSpPr>
        <p:spPr>
          <a:xfrm>
            <a:off x="3154680" y="1051560"/>
            <a:ext cx="2331360" cy="5666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DS3231 RTC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Time / Duration Tracking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Down Arrow 7"/>
          <p:cNvSpPr/>
          <p:nvPr/>
        </p:nvSpPr>
        <p:spPr>
          <a:xfrm>
            <a:off x="1586520" y="1618560"/>
            <a:ext cx="164160" cy="2556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Down Arrow 8"/>
          <p:cNvSpPr/>
          <p:nvPr/>
        </p:nvSpPr>
        <p:spPr>
          <a:xfrm>
            <a:off x="4238280" y="1618560"/>
            <a:ext cx="164160" cy="2556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ounded Rectangle 9"/>
          <p:cNvSpPr/>
          <p:nvPr/>
        </p:nvSpPr>
        <p:spPr>
          <a:xfrm>
            <a:off x="502920" y="1874520"/>
            <a:ext cx="4983120" cy="776880"/>
          </a:xfrm>
          <a:prstGeom prst="roundRect">
            <a:avLst>
              <a:gd name="adj" fmla="val 14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VEGA ARIES v2.0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CFDDEE"/>
                </a:solidFill>
                <a:effectLst/>
                <a:uFillTx/>
                <a:latin typeface="Calibri"/>
              </a:rPr>
              <a:t>Main Controller — Lifecycle Control Logic (FSM)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Down Arrow 10"/>
          <p:cNvSpPr/>
          <p:nvPr/>
        </p:nvSpPr>
        <p:spPr>
          <a:xfrm>
            <a:off x="1170360" y="2651760"/>
            <a:ext cx="145800" cy="2556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ounded Rectangle 11"/>
          <p:cNvSpPr/>
          <p:nvPr/>
        </p:nvSpPr>
        <p:spPr>
          <a:xfrm>
            <a:off x="502920" y="2907720"/>
            <a:ext cx="1481040" cy="71280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MG996R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SERVO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Tray rotation (via linkage)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Down Arrow 12"/>
          <p:cNvSpPr/>
          <p:nvPr/>
        </p:nvSpPr>
        <p:spPr>
          <a:xfrm>
            <a:off x="2921400" y="2651760"/>
            <a:ext cx="145800" cy="2556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ounded Rectangle 13"/>
          <p:cNvSpPr/>
          <p:nvPr/>
        </p:nvSpPr>
        <p:spPr>
          <a:xfrm>
            <a:off x="2253960" y="2907720"/>
            <a:ext cx="1481040" cy="71280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RELAY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Thermal-mgmt switching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Down Arrow 14"/>
          <p:cNvSpPr/>
          <p:nvPr/>
        </p:nvSpPr>
        <p:spPr>
          <a:xfrm>
            <a:off x="4672440" y="2651760"/>
            <a:ext cx="145800" cy="2556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ounded Rectangle 15"/>
          <p:cNvSpPr/>
          <p:nvPr/>
        </p:nvSpPr>
        <p:spPr>
          <a:xfrm>
            <a:off x="4005000" y="2907720"/>
            <a:ext cx="1481040" cy="71280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LCD 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BUZZER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Status &amp; alerts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Down Arrow 16"/>
          <p:cNvSpPr/>
          <p:nvPr/>
        </p:nvSpPr>
        <p:spPr>
          <a:xfrm>
            <a:off x="1170360" y="3620880"/>
            <a:ext cx="145800" cy="21924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ounded Rectangle 17"/>
          <p:cNvSpPr/>
          <p:nvPr/>
        </p:nvSpPr>
        <p:spPr>
          <a:xfrm>
            <a:off x="502920" y="3858840"/>
            <a:ext cx="1481040" cy="502560"/>
          </a:xfrm>
          <a:prstGeom prst="roundRect">
            <a:avLst>
              <a:gd name="adj" fmla="val 14000"/>
            </a:avLst>
          </a:prstGeom>
          <a:solidFill>
            <a:srgbClr val="FBF1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ROTATING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EGG TRAY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Down Arrow 18"/>
          <p:cNvSpPr/>
          <p:nvPr/>
        </p:nvSpPr>
        <p:spPr>
          <a:xfrm>
            <a:off x="2921400" y="3620880"/>
            <a:ext cx="145800" cy="21924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ounded Rectangle 19"/>
          <p:cNvSpPr/>
          <p:nvPr/>
        </p:nvSpPr>
        <p:spPr>
          <a:xfrm>
            <a:off x="2253960" y="3858840"/>
            <a:ext cx="1481040" cy="502560"/>
          </a:xfrm>
          <a:prstGeom prst="roundRect">
            <a:avLst>
              <a:gd name="adj" fmla="val 14000"/>
            </a:avLst>
          </a:prstGeom>
          <a:solidFill>
            <a:srgbClr val="FBF1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PELTIER +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FAN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20"/>
          <p:cNvSpPr/>
          <p:nvPr/>
        </p:nvSpPr>
        <p:spPr>
          <a:xfrm>
            <a:off x="4005000" y="3858840"/>
            <a:ext cx="1481040" cy="502560"/>
          </a:xfrm>
          <a:prstGeom prst="roundRect">
            <a:avLst>
              <a:gd name="adj" fmla="val 14000"/>
            </a:avLst>
          </a:prstGeom>
          <a:solidFill>
            <a:srgbClr val="FBF1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PASSIVE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WATER RES.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1"/>
          <p:cNvSpPr/>
          <p:nvPr/>
        </p:nvSpPr>
        <p:spPr>
          <a:xfrm>
            <a:off x="502920" y="4425840"/>
            <a:ext cx="4983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i="1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Humidity: monitoring + passive reservoir + ventilation (no electronic humidifier)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22"/>
          <p:cNvSpPr/>
          <p:nvPr/>
        </p:nvSpPr>
        <p:spPr>
          <a:xfrm>
            <a:off x="7818120" y="1051560"/>
            <a:ext cx="3885840" cy="365400"/>
          </a:xfrm>
          <a:prstGeom prst="roundRect">
            <a:avLst>
              <a:gd name="adj" fmla="val 12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TECHNOLOGY STACK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23"/>
          <p:cNvSpPr/>
          <p:nvPr/>
        </p:nvSpPr>
        <p:spPr>
          <a:xfrm>
            <a:off x="7818120" y="1417320"/>
            <a:ext cx="3885840" cy="28800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4"/>
          <p:cNvSpPr/>
          <p:nvPr/>
        </p:nvSpPr>
        <p:spPr>
          <a:xfrm>
            <a:off x="8001000" y="1554480"/>
            <a:ext cx="3565800" cy="16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VEGA ARIES v2.0 — embedded controller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DHT11 — temperature &amp; humidity sensing (monitoring-grade)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DS3231 — real-time clock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MG996R — automated tray movement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5V relay — thermal-load switching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LCD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 — local status display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TEC1-12706 Peltier + 12V fan — prototype thermal mgmt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95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9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Insulated foam chamber — environmental stability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5"/>
          <p:cNvSpPr/>
          <p:nvPr/>
        </p:nvSpPr>
        <p:spPr>
          <a:xfrm>
            <a:off x="502920" y="4818960"/>
            <a:ext cx="1118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IMPLEMENTATION FLOW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26"/>
          <p:cNvSpPr/>
          <p:nvPr/>
        </p:nvSpPr>
        <p:spPr>
          <a:xfrm>
            <a:off x="722520" y="5148000"/>
            <a:ext cx="1965600" cy="65808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Sensor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Acquisition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ight Arrow 27"/>
          <p:cNvSpPr/>
          <p:nvPr/>
        </p:nvSpPr>
        <p:spPr>
          <a:xfrm>
            <a:off x="2688480" y="5394960"/>
            <a:ext cx="22824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ounded Rectangle 28"/>
          <p:cNvSpPr/>
          <p:nvPr/>
        </p:nvSpPr>
        <p:spPr>
          <a:xfrm>
            <a:off x="2917080" y="5148000"/>
            <a:ext cx="1965600" cy="65808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Compare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Parameters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ight Arrow 29"/>
          <p:cNvSpPr/>
          <p:nvPr/>
        </p:nvSpPr>
        <p:spPr>
          <a:xfrm>
            <a:off x="4883040" y="5394960"/>
            <a:ext cx="22824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ounded Rectangle 30"/>
          <p:cNvSpPr/>
          <p:nvPr/>
        </p:nvSpPr>
        <p:spPr>
          <a:xfrm>
            <a:off x="5111640" y="5148000"/>
            <a:ext cx="1965600" cy="65808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Identify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Mode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ight Arrow 31"/>
          <p:cNvSpPr/>
          <p:nvPr/>
        </p:nvSpPr>
        <p:spPr>
          <a:xfrm>
            <a:off x="7077600" y="5394960"/>
            <a:ext cx="22824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ounded Rectangle 32"/>
          <p:cNvSpPr/>
          <p:nvPr/>
        </p:nvSpPr>
        <p:spPr>
          <a:xfrm>
            <a:off x="7306200" y="5148000"/>
            <a:ext cx="1965600" cy="65808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Control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Actuator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ight Arrow 33"/>
          <p:cNvSpPr/>
          <p:nvPr/>
        </p:nvSpPr>
        <p:spPr>
          <a:xfrm>
            <a:off x="9272160" y="5394960"/>
            <a:ext cx="22824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ounded Rectangle 34"/>
          <p:cNvSpPr/>
          <p:nvPr/>
        </p:nvSpPr>
        <p:spPr>
          <a:xfrm>
            <a:off x="9500760" y="5148000"/>
            <a:ext cx="1965600" cy="65808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Update Display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/ Alert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5"/>
          <p:cNvSpPr/>
          <p:nvPr/>
        </p:nvSpPr>
        <p:spPr>
          <a:xfrm>
            <a:off x="502920" y="5861160"/>
            <a:ext cx="1118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1" i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Repeat feedback loop  —  Three-mode control architecture: Storage → Incubation → Hatching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" descr="bait_logo.png"/>
          <p:cNvPicPr/>
          <p:nvPr/>
        </p:nvPicPr>
        <p:blipFill>
          <a:blip r:embed="rId1"/>
          <a:stretch/>
        </p:blipFill>
        <p:spPr>
          <a:xfrm>
            <a:off x="255960" y="146160"/>
            <a:ext cx="964800" cy="7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2" descr="img-000.jpg"/>
          <p:cNvPicPr/>
          <p:nvPr/>
        </p:nvPicPr>
        <p:blipFill>
          <a:blip r:embed="rId2"/>
          <a:stretch/>
        </p:blipFill>
        <p:spPr>
          <a:xfrm>
            <a:off x="11109960" y="201240"/>
            <a:ext cx="90180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3"/>
          <p:cNvSpPr/>
          <p:nvPr/>
        </p:nvSpPr>
        <p:spPr>
          <a:xfrm>
            <a:off x="0" y="201240"/>
            <a:ext cx="1219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FEASIBILITY AND SCALABILITY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4"/>
          <p:cNvSpPr/>
          <p:nvPr/>
        </p:nvSpPr>
        <p:spPr>
          <a:xfrm>
            <a:off x="0" y="6483240"/>
            <a:ext cx="12191400" cy="374400"/>
          </a:xfrm>
          <a:prstGeom prst="rect">
            <a:avLst/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ounded Rectangle 5"/>
          <p:cNvSpPr/>
          <p:nvPr/>
        </p:nvSpPr>
        <p:spPr>
          <a:xfrm>
            <a:off x="457200" y="960120"/>
            <a:ext cx="3977280" cy="347040"/>
          </a:xfrm>
          <a:prstGeom prst="roundRect">
            <a:avLst>
              <a:gd name="adj" fmla="val 12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FEASIBILITY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6"/>
          <p:cNvSpPr/>
          <p:nvPr/>
        </p:nvSpPr>
        <p:spPr>
          <a:xfrm>
            <a:off x="457200" y="1307520"/>
            <a:ext cx="3977280" cy="470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594360" y="1417320"/>
            <a:ext cx="3702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TECHNICAL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594360" y="1636920"/>
            <a:ext cx="3702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Built from readily available embedded components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ARIES v2.0: GPIO / PWM / I²C for the prototype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Modular sensor &amp; actuator architecture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9"/>
          <p:cNvSpPr/>
          <p:nvPr/>
        </p:nvSpPr>
        <p:spPr>
          <a:xfrm>
            <a:off x="594360" y="2468880"/>
            <a:ext cx="3702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ECONOMIC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594360" y="2688480"/>
            <a:ext cx="370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Affordable, commonly available components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Modular design allows future upgrades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1"/>
          <p:cNvSpPr/>
          <p:nvPr/>
        </p:nvSpPr>
        <p:spPr>
          <a:xfrm>
            <a:off x="594360" y="3182040"/>
            <a:ext cx="3702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OPERATIONAL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594360" y="3401640"/>
            <a:ext cx="3702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Reduces manual monitoring effort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Automated tray orientation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RTC-based lifecycle tracking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7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7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Local display &amp; alerts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3"/>
          <p:cNvSpPr/>
          <p:nvPr/>
        </p:nvSpPr>
        <p:spPr>
          <a:xfrm>
            <a:off x="594360" y="555948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0" b="0" i="1" u="none" strike="noStrike">
                <a:solidFill>
                  <a:srgbClr val="555B61"/>
                </a:solidFill>
                <a:effectLst/>
                <a:uFillTx/>
                <a:latin typeface="Calibri"/>
              </a:rPr>
              <a:t>Suitable for a 4-egg proof-of-concept build.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4"/>
          <p:cNvSpPr/>
          <p:nvPr/>
        </p:nvSpPr>
        <p:spPr>
          <a:xfrm>
            <a:off x="4599360" y="960120"/>
            <a:ext cx="3794400" cy="347040"/>
          </a:xfrm>
          <a:prstGeom prst="roundRect">
            <a:avLst>
              <a:gd name="adj" fmla="val 12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CHALLENGES &amp; MITIGATION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9" name="Table 15"/>
          <p:cNvGraphicFramePr/>
          <p:nvPr/>
        </p:nvGraphicFramePr>
        <p:xfrm>
          <a:off x="4599360" y="1307520"/>
          <a:ext cx="3794400" cy="4571640"/>
        </p:xfrm>
        <a:graphic>
          <a:graphicData uri="http://schemas.openxmlformats.org/drawingml/2006/table">
            <a:tbl>
              <a:tblPr/>
              <a:tblGrid>
                <a:gridCol w="1517760"/>
                <a:gridCol w="2276640"/>
              </a:tblGrid>
              <a:tr h="292320">
                <a:tc>
                  <a:txBody>
                    <a:bodyPr lIns="507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Challenge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9144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3357"/>
                    </a:solidFill>
                  </a:tcPr>
                </a:tc>
                <a:tc>
                  <a:txBody>
                    <a:bodyPr lIns="507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Mitigation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9144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3357"/>
                    </a:solidFill>
                  </a:tcPr>
                </a:tc>
              </a:tr>
              <a:tr h="713160"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1" u="none" strike="noStrike">
                          <a:solidFill>
                            <a:srgbClr val="153357"/>
                          </a:solidFill>
                          <a:effectLst/>
                          <a:uFillTx/>
                          <a:latin typeface="Calibri"/>
                        </a:rPr>
                        <a:t>Temperature variation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0" u="none" strike="noStrike">
                          <a:solidFill>
                            <a:srgbClr val="202428"/>
                          </a:solidFill>
                          <a:effectLst/>
                          <a:uFillTx/>
                          <a:latin typeface="Calibri"/>
                        </a:rPr>
                        <a:t>Insulated chamber + continuous monitoring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1" u="none" strike="noStrike">
                          <a:solidFill>
                            <a:srgbClr val="153357"/>
                          </a:solidFill>
                          <a:effectLst/>
                          <a:uFillTx/>
                          <a:latin typeface="Calibri"/>
                        </a:rPr>
                        <a:t>Humidity variation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0" u="none" strike="noStrike">
                          <a:solidFill>
                            <a:srgbClr val="202428"/>
                          </a:solidFill>
                          <a:effectLst/>
                          <a:uFillTx/>
                          <a:latin typeface="Calibri"/>
                        </a:rPr>
                        <a:t>DHT11 monitoring + passive reservoir + ventilation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13160"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1" u="none" strike="noStrike">
                          <a:solidFill>
                            <a:srgbClr val="153357"/>
                          </a:solidFill>
                          <a:effectLst/>
                          <a:uFillTx/>
                          <a:latin typeface="Calibri"/>
                        </a:rPr>
                        <a:t>Tray positioning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0" u="none" strike="noStrike">
                          <a:solidFill>
                            <a:srgbClr val="202428"/>
                          </a:solidFill>
                          <a:effectLst/>
                          <a:uFillTx/>
                          <a:latin typeface="Calibri"/>
                        </a:rPr>
                        <a:t>Mechanical calibration + future position feedback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1" u="none" strike="noStrike">
                          <a:solidFill>
                            <a:srgbClr val="153357"/>
                          </a:solidFill>
                          <a:effectLst/>
                          <a:uFillTx/>
                          <a:latin typeface="Calibri"/>
                        </a:rPr>
                        <a:t>Power requirements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0" u="none" strike="noStrike">
                          <a:solidFill>
                            <a:srgbClr val="202428"/>
                          </a:solidFill>
                          <a:effectLst/>
                          <a:uFillTx/>
                          <a:latin typeface="Calibri"/>
                        </a:rPr>
                        <a:t>Separate paths for controller &amp; high-current loads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13160"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1" u="none" strike="noStrike">
                          <a:solidFill>
                            <a:srgbClr val="153357"/>
                          </a:solidFill>
                          <a:effectLst/>
                          <a:uFillTx/>
                          <a:latin typeface="Calibri"/>
                        </a:rPr>
                        <a:t>Sensor / actuator fault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0" u="none" strike="noStrike">
                          <a:solidFill>
                            <a:srgbClr val="202428"/>
                          </a:solidFill>
                          <a:effectLst/>
                          <a:uFillTx/>
                          <a:latin typeface="Calibri"/>
                        </a:rPr>
                        <a:t>Fault detection &amp; alerts — future s/w enhancement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1" u="none" strike="noStrike">
                          <a:solidFill>
                            <a:srgbClr val="153357"/>
                          </a:solidFill>
                          <a:effectLst/>
                          <a:uFillTx/>
                          <a:latin typeface="Calibri"/>
                        </a:rPr>
                        <a:t>Lifecycle differences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50760" tIns="25200" rIns="378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20" b="0" u="none" strike="noStrike">
                          <a:solidFill>
                            <a:srgbClr val="202428"/>
                          </a:solidFill>
                          <a:effectLst/>
                          <a:uFillTx/>
                          <a:latin typeface="Calibri"/>
                        </a:rPr>
                        <a:t>Dedicated Storage / Incubation / Hatching modes</a:t>
                      </a:r>
                      <a:endParaRPr lang="en-US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60" name="Rounded Rectangle 16"/>
          <p:cNvSpPr/>
          <p:nvPr/>
        </p:nvSpPr>
        <p:spPr>
          <a:xfrm>
            <a:off x="8558640" y="960120"/>
            <a:ext cx="3565800" cy="347040"/>
          </a:xfrm>
          <a:prstGeom prst="roundRect">
            <a:avLst>
              <a:gd name="adj" fmla="val 12000"/>
            </a:avLst>
          </a:prstGeom>
          <a:solidFill>
            <a:srgbClr val="C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SCALABILITY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17"/>
          <p:cNvSpPr/>
          <p:nvPr/>
        </p:nvSpPr>
        <p:spPr>
          <a:xfrm>
            <a:off x="8558640" y="1307520"/>
            <a:ext cx="3565800" cy="4708800"/>
          </a:xfrm>
          <a:prstGeom prst="roundRect">
            <a:avLst>
              <a:gd name="adj" fmla="val 3000"/>
            </a:avLst>
          </a:prstGeom>
          <a:solidFill>
            <a:srgbClr val="FBF1DD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ounded Rectangle 18"/>
          <p:cNvSpPr/>
          <p:nvPr/>
        </p:nvSpPr>
        <p:spPr>
          <a:xfrm>
            <a:off x="8787240" y="1463040"/>
            <a:ext cx="3108600" cy="383760"/>
          </a:xfrm>
          <a:prstGeom prst="roundRect">
            <a:avLst>
              <a:gd name="adj" fmla="val 20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4-EGG PROTOTYPE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Down Arrow 19"/>
          <p:cNvSpPr/>
          <p:nvPr/>
        </p:nvSpPr>
        <p:spPr>
          <a:xfrm>
            <a:off x="10278000" y="1865520"/>
            <a:ext cx="127800" cy="1458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ounded Rectangle 20"/>
          <p:cNvSpPr/>
          <p:nvPr/>
        </p:nvSpPr>
        <p:spPr>
          <a:xfrm>
            <a:off x="8787240" y="2011680"/>
            <a:ext cx="2761200" cy="383760"/>
          </a:xfrm>
          <a:prstGeom prst="roundRect">
            <a:avLst>
              <a:gd name="adj" fmla="val 20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15-EGG SYSTEM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Down Arrow 21"/>
          <p:cNvSpPr/>
          <p:nvPr/>
        </p:nvSpPr>
        <p:spPr>
          <a:xfrm>
            <a:off x="10104120" y="2414160"/>
            <a:ext cx="127800" cy="1458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ounded Rectangle 22"/>
          <p:cNvSpPr/>
          <p:nvPr/>
        </p:nvSpPr>
        <p:spPr>
          <a:xfrm>
            <a:off x="8787240" y="2560320"/>
            <a:ext cx="2413800" cy="383760"/>
          </a:xfrm>
          <a:prstGeom prst="roundRect">
            <a:avLst>
              <a:gd name="adj" fmla="val 20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SMALL-SCALE FARM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Down Arrow 23"/>
          <p:cNvSpPr/>
          <p:nvPr/>
        </p:nvSpPr>
        <p:spPr>
          <a:xfrm>
            <a:off x="9930240" y="2962800"/>
            <a:ext cx="127800" cy="1458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ounded Rectangle 24"/>
          <p:cNvSpPr/>
          <p:nvPr/>
        </p:nvSpPr>
        <p:spPr>
          <a:xfrm>
            <a:off x="8787240" y="3108960"/>
            <a:ext cx="2066040" cy="383760"/>
          </a:xfrm>
          <a:prstGeom prst="roundRect">
            <a:avLst>
              <a:gd name="adj" fmla="val 20000"/>
            </a:avLst>
          </a:prstGeom>
          <a:solidFill>
            <a:srgbClr val="C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MODULAR HATCHERY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5"/>
          <p:cNvSpPr/>
          <p:nvPr/>
        </p:nvSpPr>
        <p:spPr>
          <a:xfrm>
            <a:off x="8741520" y="37033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FUTURE UPGRADES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6"/>
          <p:cNvSpPr/>
          <p:nvPr/>
        </p:nvSpPr>
        <p:spPr>
          <a:xfrm>
            <a:off x="8741520" y="3950280"/>
            <a:ext cx="32000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2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Higher-accuracy T/RH sensors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2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Active humidity control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2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Tray position feedback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2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Data logging + IoT/cloud dashboard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2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Larger modular trays, remote monitoring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icture 1" descr="bait_logo.png"/>
          <p:cNvPicPr/>
          <p:nvPr/>
        </p:nvPicPr>
        <p:blipFill>
          <a:blip r:embed="rId1"/>
          <a:stretch/>
        </p:blipFill>
        <p:spPr>
          <a:xfrm>
            <a:off x="255960" y="146160"/>
            <a:ext cx="964800" cy="7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2" descr="img-000.jpg"/>
          <p:cNvPicPr/>
          <p:nvPr/>
        </p:nvPicPr>
        <p:blipFill>
          <a:blip r:embed="rId2"/>
          <a:stretch/>
        </p:blipFill>
        <p:spPr>
          <a:xfrm>
            <a:off x="11109960" y="201240"/>
            <a:ext cx="90180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Box 3"/>
          <p:cNvSpPr/>
          <p:nvPr/>
        </p:nvSpPr>
        <p:spPr>
          <a:xfrm>
            <a:off x="0" y="201240"/>
            <a:ext cx="1219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IMPACT AND BENEFITS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4"/>
          <p:cNvSpPr/>
          <p:nvPr/>
        </p:nvSpPr>
        <p:spPr>
          <a:xfrm>
            <a:off x="0" y="6483240"/>
            <a:ext cx="12191400" cy="374400"/>
          </a:xfrm>
          <a:prstGeom prst="rect">
            <a:avLst/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5"/>
          <p:cNvSpPr/>
          <p:nvPr/>
        </p:nvSpPr>
        <p:spPr>
          <a:xfrm>
            <a:off x="457200" y="960120"/>
            <a:ext cx="11274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TARGET USERS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6"/>
          <p:cNvSpPr/>
          <p:nvPr/>
        </p:nvSpPr>
        <p:spPr>
          <a:xfrm>
            <a:off x="457200" y="1234440"/>
            <a:ext cx="2148480" cy="566640"/>
          </a:xfrm>
          <a:prstGeom prst="roundRect">
            <a:avLst>
              <a:gd name="adj" fmla="val 35000"/>
            </a:avLst>
          </a:prstGeom>
          <a:solidFill>
            <a:srgbClr val="F3F6FA"/>
          </a:solidFill>
          <a:ln w="1270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25560" rIns="507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Small Poultry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Farmers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7"/>
          <p:cNvSpPr/>
          <p:nvPr/>
        </p:nvSpPr>
        <p:spPr>
          <a:xfrm>
            <a:off x="2738520" y="1234440"/>
            <a:ext cx="2148480" cy="566640"/>
          </a:xfrm>
          <a:prstGeom prst="roundRect">
            <a:avLst>
              <a:gd name="adj" fmla="val 35000"/>
            </a:avLst>
          </a:prstGeom>
          <a:solidFill>
            <a:srgbClr val="F3F6FA"/>
          </a:solidFill>
          <a:ln w="1270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25560" rIns="507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Hatchery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Operators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8"/>
          <p:cNvSpPr/>
          <p:nvPr/>
        </p:nvSpPr>
        <p:spPr>
          <a:xfrm>
            <a:off x="5020200" y="1234440"/>
            <a:ext cx="2148480" cy="566640"/>
          </a:xfrm>
          <a:prstGeom prst="roundRect">
            <a:avLst>
              <a:gd name="adj" fmla="val 35000"/>
            </a:avLst>
          </a:prstGeom>
          <a:solidFill>
            <a:srgbClr val="F3F6FA"/>
          </a:solidFill>
          <a:ln w="1270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25560" rIns="507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Rural Poultry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Entrepreneurs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9"/>
          <p:cNvSpPr/>
          <p:nvPr/>
        </p:nvSpPr>
        <p:spPr>
          <a:xfrm>
            <a:off x="7301520" y="1234440"/>
            <a:ext cx="2148480" cy="566640"/>
          </a:xfrm>
          <a:prstGeom prst="roundRect">
            <a:avLst>
              <a:gd name="adj" fmla="val 35000"/>
            </a:avLst>
          </a:prstGeom>
          <a:solidFill>
            <a:srgbClr val="F3F6FA"/>
          </a:solidFill>
          <a:ln w="1270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25560" rIns="507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Backyard Poultry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Breeders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10"/>
          <p:cNvSpPr/>
          <p:nvPr/>
        </p:nvSpPr>
        <p:spPr>
          <a:xfrm>
            <a:off x="9582840" y="1234440"/>
            <a:ext cx="2148480" cy="566640"/>
          </a:xfrm>
          <a:prstGeom prst="roundRect">
            <a:avLst>
              <a:gd name="adj" fmla="val 35000"/>
            </a:avLst>
          </a:prstGeom>
          <a:solidFill>
            <a:srgbClr val="F3F6FA"/>
          </a:solidFill>
          <a:ln w="1270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25560" rIns="507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Agricultural /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Research Facilities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1"/>
          <p:cNvSpPr/>
          <p:nvPr/>
        </p:nvSpPr>
        <p:spPr>
          <a:xfrm>
            <a:off x="457200" y="2011680"/>
            <a:ext cx="3702960" cy="328680"/>
          </a:xfrm>
          <a:prstGeom prst="roundRect">
            <a:avLst>
              <a:gd name="adj" fmla="val 12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KEY BENEFITS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2"/>
          <p:cNvSpPr/>
          <p:nvPr/>
        </p:nvSpPr>
        <p:spPr>
          <a:xfrm>
            <a:off x="457200" y="2340720"/>
            <a:ext cx="3702960" cy="187416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3"/>
          <p:cNvSpPr/>
          <p:nvPr/>
        </p:nvSpPr>
        <p:spPr>
          <a:xfrm>
            <a:off x="621720" y="2468880"/>
            <a:ext cx="33739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8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8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Reduced avoidable fertile-egg losses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8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8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Less manual intervention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8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8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Consistent egg handling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8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8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Lifecycle-based management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8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8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Affordable embedded automation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8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8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Data-driven monitoring &amp; validation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14"/>
          <p:cNvSpPr/>
          <p:nvPr/>
        </p:nvSpPr>
        <p:spPr>
          <a:xfrm>
            <a:off x="4343400" y="2011680"/>
            <a:ext cx="3693960" cy="328680"/>
          </a:xfrm>
          <a:prstGeom prst="roundRect">
            <a:avLst>
              <a:gd name="adj" fmla="val 12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ECONOMIC IMPACT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5"/>
          <p:cNvSpPr/>
          <p:nvPr/>
        </p:nvSpPr>
        <p:spPr>
          <a:xfrm>
            <a:off x="4343400" y="2340720"/>
            <a:ext cx="3693960" cy="187416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6"/>
          <p:cNvSpPr/>
          <p:nvPr/>
        </p:nvSpPr>
        <p:spPr>
          <a:xfrm>
            <a:off x="4489560" y="2468880"/>
            <a:ext cx="34012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86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6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Reduces losses from poor egg handling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86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6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Supports affordable automation for small farms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86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6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Potential for local development &amp; manufacture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7"/>
          <p:cNvSpPr/>
          <p:nvPr/>
        </p:nvSpPr>
        <p:spPr>
          <a:xfrm>
            <a:off x="8220600" y="2011680"/>
            <a:ext cx="3693960" cy="328680"/>
          </a:xfrm>
          <a:prstGeom prst="roundRect">
            <a:avLst>
              <a:gd name="adj" fmla="val 12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ENVIRONMENTAL IMPACT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18"/>
          <p:cNvSpPr/>
          <p:nvPr/>
        </p:nvSpPr>
        <p:spPr>
          <a:xfrm>
            <a:off x="8220600" y="2340720"/>
            <a:ext cx="3693960" cy="187416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8366760" y="2468880"/>
            <a:ext cx="34012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86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6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Helps reduce wastage of viable fertile eggs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86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6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Promotes efficient use of poultry resources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20"/>
          <p:cNvSpPr/>
          <p:nvPr/>
        </p:nvSpPr>
        <p:spPr>
          <a:xfrm>
            <a:off x="457200" y="4389120"/>
            <a:ext cx="11274120" cy="328680"/>
          </a:xfrm>
          <a:prstGeom prst="roundRect">
            <a:avLst>
              <a:gd name="adj" fmla="val 12000"/>
            </a:avLst>
          </a:prstGeom>
          <a:solidFill>
            <a:srgbClr val="C88A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IMPACT ON INDIAN ECOSYSTEM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21"/>
          <p:cNvSpPr/>
          <p:nvPr/>
        </p:nvSpPr>
        <p:spPr>
          <a:xfrm>
            <a:off x="457200" y="4718160"/>
            <a:ext cx="11274120" cy="1051200"/>
          </a:xfrm>
          <a:prstGeom prst="roundRect">
            <a:avLst>
              <a:gd name="adj" fmla="val 8000"/>
            </a:avLst>
          </a:prstGeom>
          <a:solidFill>
            <a:srgbClr val="FBF1DD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ounded Rectangle 22"/>
          <p:cNvSpPr/>
          <p:nvPr/>
        </p:nvSpPr>
        <p:spPr>
          <a:xfrm>
            <a:off x="594360" y="4892040"/>
            <a:ext cx="1965600" cy="73116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HATCHX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ight Arrow 23"/>
          <p:cNvSpPr/>
          <p:nvPr/>
        </p:nvSpPr>
        <p:spPr>
          <a:xfrm>
            <a:off x="2560320" y="5175360"/>
            <a:ext cx="29232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ounded Rectangle 24"/>
          <p:cNvSpPr/>
          <p:nvPr/>
        </p:nvSpPr>
        <p:spPr>
          <a:xfrm>
            <a:off x="2853000" y="4892040"/>
            <a:ext cx="1965600" cy="73116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Better Egg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Management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ight Arrow 25"/>
          <p:cNvSpPr/>
          <p:nvPr/>
        </p:nvSpPr>
        <p:spPr>
          <a:xfrm>
            <a:off x="4818960" y="5175360"/>
            <a:ext cx="29232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ounded Rectangle 26"/>
          <p:cNvSpPr/>
          <p:nvPr/>
        </p:nvSpPr>
        <p:spPr>
          <a:xfrm>
            <a:off x="5111640" y="4892040"/>
            <a:ext cx="1965600" cy="73116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Farmers +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Hatcheries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ight Arrow 27"/>
          <p:cNvSpPr/>
          <p:nvPr/>
        </p:nvSpPr>
        <p:spPr>
          <a:xfrm>
            <a:off x="7077600" y="5175360"/>
            <a:ext cx="29232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ounded Rectangle 28"/>
          <p:cNvSpPr/>
          <p:nvPr/>
        </p:nvSpPr>
        <p:spPr>
          <a:xfrm>
            <a:off x="7369920" y="4892040"/>
            <a:ext cx="1965600" cy="731160"/>
          </a:xfrm>
          <a:prstGeom prst="roundRect">
            <a:avLst>
              <a:gd name="adj" fmla="val 16000"/>
            </a:avLst>
          </a:prstGeom>
          <a:solidFill>
            <a:srgbClr val="F3F6FA"/>
          </a:solidFill>
          <a:ln w="15875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Reduced Avoidable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Losses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ight Arrow 29"/>
          <p:cNvSpPr/>
          <p:nvPr/>
        </p:nvSpPr>
        <p:spPr>
          <a:xfrm>
            <a:off x="9335880" y="5175360"/>
            <a:ext cx="292320" cy="164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ounded Rectangle 30"/>
          <p:cNvSpPr/>
          <p:nvPr/>
        </p:nvSpPr>
        <p:spPr>
          <a:xfrm>
            <a:off x="9628560" y="4892040"/>
            <a:ext cx="1965600" cy="731160"/>
          </a:xfrm>
          <a:prstGeom prst="roundRect">
            <a:avLst>
              <a:gd name="adj" fmla="val 16000"/>
            </a:avLst>
          </a:prstGeom>
          <a:solidFill>
            <a:srgbClr val="FBF1DD"/>
          </a:solidFill>
          <a:ln w="15875">
            <a:solidFill>
              <a:srgbClr val="C88A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45000" rIns="3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Scalable Poultry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Automation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1" descr="bait_logo.png"/>
          <p:cNvPicPr/>
          <p:nvPr/>
        </p:nvPicPr>
        <p:blipFill>
          <a:blip r:embed="rId1"/>
          <a:stretch/>
        </p:blipFill>
        <p:spPr>
          <a:xfrm>
            <a:off x="255960" y="146160"/>
            <a:ext cx="964800" cy="7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2" descr="img-000.jpg"/>
          <p:cNvPicPr/>
          <p:nvPr/>
        </p:nvPicPr>
        <p:blipFill>
          <a:blip r:embed="rId2"/>
          <a:stretch/>
        </p:blipFill>
        <p:spPr>
          <a:xfrm>
            <a:off x="11109960" y="201240"/>
            <a:ext cx="90180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Box 3"/>
          <p:cNvSpPr/>
          <p:nvPr/>
        </p:nvSpPr>
        <p:spPr>
          <a:xfrm>
            <a:off x="0" y="201240"/>
            <a:ext cx="1219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3357"/>
                </a:solidFill>
                <a:effectLst/>
                <a:uFillTx/>
                <a:latin typeface="Georgia"/>
              </a:rPr>
              <a:t>RESEARCH AND REFERENCES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4"/>
          <p:cNvSpPr/>
          <p:nvPr/>
        </p:nvSpPr>
        <p:spPr>
          <a:xfrm>
            <a:off x="0" y="6483240"/>
            <a:ext cx="12191400" cy="374400"/>
          </a:xfrm>
          <a:prstGeom prst="rect">
            <a:avLst/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ounded Rectangle 5"/>
          <p:cNvSpPr/>
          <p:nvPr/>
        </p:nvSpPr>
        <p:spPr>
          <a:xfrm>
            <a:off x="457200" y="960120"/>
            <a:ext cx="3428640" cy="328680"/>
          </a:xfrm>
          <a:prstGeom prst="roundRect">
            <a:avLst>
              <a:gd name="adj" fmla="val 12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RESEARCH BASIS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6"/>
          <p:cNvSpPr/>
          <p:nvPr/>
        </p:nvSpPr>
        <p:spPr>
          <a:xfrm>
            <a:off x="457200" y="1289160"/>
            <a:ext cx="3428640" cy="416016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7"/>
          <p:cNvSpPr/>
          <p:nvPr/>
        </p:nvSpPr>
        <p:spPr>
          <a:xfrm>
            <a:off x="621720" y="141732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Mississippi State University Extension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8"/>
          <p:cNvSpPr/>
          <p:nvPr/>
        </p:nvSpPr>
        <p:spPr>
          <a:xfrm>
            <a:off x="621720" y="163692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Hatching-egg storage practices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Storage duration &amp; hatchability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Egg turning during storage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Temperature &amp; humidity considerations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9"/>
          <p:cNvSpPr/>
          <p:nvPr/>
        </p:nvSpPr>
        <p:spPr>
          <a:xfrm>
            <a:off x="621720" y="265176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Aviagen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0"/>
          <p:cNvSpPr/>
          <p:nvPr/>
        </p:nvSpPr>
        <p:spPr>
          <a:xfrm>
            <a:off x="621720" y="287136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Hatching egg storage recommendations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Storage temperature guidance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Storage duration considerations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1"/>
          <p:cNvSpPr/>
          <p:nvPr/>
        </p:nvSpPr>
        <p:spPr>
          <a:xfrm>
            <a:off x="621720" y="356616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C-DAC / VEGA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621720" y="378576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ARIES v2.0 hardware specifications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GPIO / PWM / I²C capabilities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2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2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Embedded platform documentation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13"/>
          <p:cNvSpPr/>
          <p:nvPr/>
        </p:nvSpPr>
        <p:spPr>
          <a:xfrm>
            <a:off x="4160520" y="960120"/>
            <a:ext cx="4663080" cy="328680"/>
          </a:xfrm>
          <a:prstGeom prst="roundRect">
            <a:avLst>
              <a:gd name="adj" fmla="val 12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VALIDATION PLAN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4"/>
          <p:cNvSpPr/>
          <p:nvPr/>
        </p:nvSpPr>
        <p:spPr>
          <a:xfrm>
            <a:off x="4160520" y="1289160"/>
            <a:ext cx="4663080" cy="4160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ounded Rectangle 15"/>
          <p:cNvSpPr/>
          <p:nvPr/>
        </p:nvSpPr>
        <p:spPr>
          <a:xfrm>
            <a:off x="5074920" y="1463040"/>
            <a:ext cx="2834280" cy="383760"/>
          </a:xfrm>
          <a:prstGeom prst="roundRect">
            <a:avLst>
              <a:gd name="adj" fmla="val 30000"/>
            </a:avLst>
          </a:prstGeom>
          <a:solidFill>
            <a:srgbClr val="F3F6FA"/>
          </a:solidFill>
          <a:ln w="1524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6"/>
          <p:cNvSpPr/>
          <p:nvPr/>
        </p:nvSpPr>
        <p:spPr>
          <a:xfrm>
            <a:off x="5074920" y="146304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SAME BATCH OF FERTILE EGGS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7" name="Connector 17"/>
          <p:cNvCxnSpPr/>
          <p:nvPr/>
        </p:nvCxnSpPr>
        <p:spPr>
          <a:xfrm>
            <a:off x="6492240" y="1846800"/>
            <a:ext cx="360" cy="192600"/>
          </a:xfrm>
          <a:prstGeom prst="straightConnector1">
            <a:avLst/>
          </a:prstGeom>
          <a:ln w="22225">
            <a:solidFill>
              <a:srgbClr val="1F487C"/>
            </a:solidFill>
            <a:round/>
            <a:tailEnd len="med" type="triangle" w="med"/>
          </a:ln>
        </p:spPr>
      </p:cxnSp>
      <p:cxnSp>
        <p:nvCxnSpPr>
          <p:cNvPr id="218" name="Connector 18"/>
          <p:cNvCxnSpPr/>
          <p:nvPr/>
        </p:nvCxnSpPr>
        <p:spPr>
          <a:xfrm>
            <a:off x="4983480" y="2039040"/>
            <a:ext cx="3017520" cy="360"/>
          </a:xfrm>
          <a:prstGeom prst="straightConnector1">
            <a:avLst/>
          </a:prstGeom>
          <a:ln w="19050">
            <a:solidFill>
              <a:srgbClr val="1F487C"/>
            </a:solidFill>
            <a:round/>
            <a:tailEnd len="med" type="triangle" w="med"/>
          </a:ln>
        </p:spPr>
      </p:cxnSp>
      <p:cxnSp>
        <p:nvCxnSpPr>
          <p:cNvPr id="219" name="Connector 19"/>
          <p:cNvCxnSpPr/>
          <p:nvPr/>
        </p:nvCxnSpPr>
        <p:spPr>
          <a:xfrm>
            <a:off x="4983480" y="2039040"/>
            <a:ext cx="360" cy="155880"/>
          </a:xfrm>
          <a:prstGeom prst="straightConnector1">
            <a:avLst/>
          </a:prstGeom>
          <a:ln w="22225">
            <a:solidFill>
              <a:srgbClr val="1F487C"/>
            </a:solidFill>
            <a:round/>
            <a:tailEnd len="med" type="triangle" w="med"/>
          </a:ln>
        </p:spPr>
      </p:cxnSp>
      <p:cxnSp>
        <p:nvCxnSpPr>
          <p:cNvPr id="220" name="Connector 20"/>
          <p:cNvCxnSpPr/>
          <p:nvPr/>
        </p:nvCxnSpPr>
        <p:spPr>
          <a:xfrm>
            <a:off x="8000640" y="2039040"/>
            <a:ext cx="360" cy="155880"/>
          </a:xfrm>
          <a:prstGeom prst="straightConnector1">
            <a:avLst/>
          </a:prstGeom>
          <a:ln w="22225">
            <a:solidFill>
              <a:srgbClr val="1F487C"/>
            </a:solidFill>
            <a:round/>
            <a:tailEnd len="med" type="triangle" w="med"/>
          </a:ln>
        </p:spPr>
      </p:cxnSp>
      <p:sp>
        <p:nvSpPr>
          <p:cNvPr id="221" name="Rounded Rectangle 21"/>
          <p:cNvSpPr/>
          <p:nvPr/>
        </p:nvSpPr>
        <p:spPr>
          <a:xfrm>
            <a:off x="4206240" y="2194560"/>
            <a:ext cx="1554120" cy="383760"/>
          </a:xfrm>
          <a:prstGeom prst="roundRect">
            <a:avLst>
              <a:gd name="adj" fmla="val 30000"/>
            </a:avLst>
          </a:prstGeom>
          <a:solidFill>
            <a:srgbClr val="F3F6FA"/>
          </a:solidFill>
          <a:ln w="1524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22"/>
          <p:cNvSpPr/>
          <p:nvPr/>
        </p:nvSpPr>
        <p:spPr>
          <a:xfrm>
            <a:off x="4206240" y="219456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CONTROL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23"/>
          <p:cNvSpPr/>
          <p:nvPr/>
        </p:nvSpPr>
        <p:spPr>
          <a:xfrm>
            <a:off x="7223760" y="2194560"/>
            <a:ext cx="1554120" cy="383760"/>
          </a:xfrm>
          <a:prstGeom prst="roundRect">
            <a:avLst>
              <a:gd name="adj" fmla="val 30000"/>
            </a:avLst>
          </a:prstGeom>
          <a:solidFill>
            <a:srgbClr val="FBF1DD"/>
          </a:solidFill>
          <a:ln w="15240">
            <a:solidFill>
              <a:srgbClr val="C88A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24"/>
          <p:cNvSpPr/>
          <p:nvPr/>
        </p:nvSpPr>
        <p:spPr>
          <a:xfrm>
            <a:off x="7223760" y="219456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HATCHX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Connector 25"/>
          <p:cNvCxnSpPr/>
          <p:nvPr/>
        </p:nvCxnSpPr>
        <p:spPr>
          <a:xfrm>
            <a:off x="4983480" y="2578320"/>
            <a:ext cx="360" cy="210960"/>
          </a:xfrm>
          <a:prstGeom prst="straightConnector1">
            <a:avLst/>
          </a:prstGeom>
          <a:ln w="22225">
            <a:solidFill>
              <a:srgbClr val="1F487C"/>
            </a:solidFill>
            <a:round/>
            <a:tailEnd len="med" type="triangle" w="med"/>
          </a:ln>
        </p:spPr>
      </p:cxnSp>
      <p:cxnSp>
        <p:nvCxnSpPr>
          <p:cNvPr id="226" name="Connector 26"/>
          <p:cNvCxnSpPr/>
          <p:nvPr/>
        </p:nvCxnSpPr>
        <p:spPr>
          <a:xfrm>
            <a:off x="8000640" y="2578320"/>
            <a:ext cx="360" cy="210960"/>
          </a:xfrm>
          <a:prstGeom prst="straightConnector1">
            <a:avLst/>
          </a:prstGeom>
          <a:ln w="22225">
            <a:solidFill>
              <a:srgbClr val="1F487C"/>
            </a:solidFill>
            <a:round/>
            <a:tailEnd len="med" type="triangle" w="med"/>
          </a:ln>
        </p:spPr>
      </p:cxnSp>
      <p:cxnSp>
        <p:nvCxnSpPr>
          <p:cNvPr id="227" name="Connector 27"/>
          <p:cNvCxnSpPr/>
          <p:nvPr/>
        </p:nvCxnSpPr>
        <p:spPr>
          <a:xfrm>
            <a:off x="4983480" y="2788920"/>
            <a:ext cx="3017520" cy="360"/>
          </a:xfrm>
          <a:prstGeom prst="straightConnector1">
            <a:avLst/>
          </a:prstGeom>
          <a:ln w="19050">
            <a:solidFill>
              <a:srgbClr val="1F487C"/>
            </a:solidFill>
            <a:round/>
            <a:tailEnd len="med" type="triangle" w="med"/>
          </a:ln>
        </p:spPr>
      </p:cxnSp>
      <p:cxnSp>
        <p:nvCxnSpPr>
          <p:cNvPr id="228" name="Connector 28"/>
          <p:cNvCxnSpPr/>
          <p:nvPr/>
        </p:nvCxnSpPr>
        <p:spPr>
          <a:xfrm>
            <a:off x="6492240" y="2788920"/>
            <a:ext cx="360" cy="183240"/>
          </a:xfrm>
          <a:prstGeom prst="straightConnector1">
            <a:avLst/>
          </a:prstGeom>
          <a:ln w="22225">
            <a:solidFill>
              <a:srgbClr val="1F487C"/>
            </a:solidFill>
            <a:round/>
            <a:tailEnd len="med" type="triangle" w="med"/>
          </a:ln>
        </p:spPr>
      </p:cxnSp>
      <p:sp>
        <p:nvSpPr>
          <p:cNvPr id="229" name="Rounded Rectangle 29"/>
          <p:cNvSpPr/>
          <p:nvPr/>
        </p:nvSpPr>
        <p:spPr>
          <a:xfrm>
            <a:off x="5074920" y="2971800"/>
            <a:ext cx="2834280" cy="383760"/>
          </a:xfrm>
          <a:prstGeom prst="roundRect">
            <a:avLst>
              <a:gd name="adj" fmla="val 30000"/>
            </a:avLst>
          </a:prstGeom>
          <a:solidFill>
            <a:srgbClr val="F3F6FA"/>
          </a:solidFill>
          <a:ln w="15240">
            <a:solidFill>
              <a:srgbClr val="1F487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30"/>
          <p:cNvSpPr/>
          <p:nvPr/>
        </p:nvSpPr>
        <p:spPr>
          <a:xfrm>
            <a:off x="5074920" y="297180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70" b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SAME INCUBATION CONDITIONS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1" name="Connector 31"/>
          <p:cNvCxnSpPr/>
          <p:nvPr/>
        </p:nvCxnSpPr>
        <p:spPr>
          <a:xfrm>
            <a:off x="6492240" y="3355560"/>
            <a:ext cx="360" cy="183240"/>
          </a:xfrm>
          <a:prstGeom prst="straightConnector1">
            <a:avLst/>
          </a:prstGeom>
          <a:ln w="22225">
            <a:solidFill>
              <a:srgbClr val="1F487C"/>
            </a:solidFill>
            <a:round/>
            <a:tailEnd len="med" type="triangle" w="med"/>
          </a:ln>
        </p:spPr>
      </p:cxnSp>
      <p:sp>
        <p:nvSpPr>
          <p:cNvPr id="232" name="Rounded Rectangle 32"/>
          <p:cNvSpPr/>
          <p:nvPr/>
        </p:nvSpPr>
        <p:spPr>
          <a:xfrm>
            <a:off x="5074920" y="3538800"/>
            <a:ext cx="2834280" cy="383760"/>
          </a:xfrm>
          <a:prstGeom prst="roundRect">
            <a:avLst>
              <a:gd name="adj" fmla="val 30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33"/>
          <p:cNvSpPr/>
          <p:nvPr/>
        </p:nvSpPr>
        <p:spPr>
          <a:xfrm>
            <a:off x="5074920" y="353880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COMPARE RESULTS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4" name="Connector 34"/>
          <p:cNvCxnSpPr/>
          <p:nvPr/>
        </p:nvCxnSpPr>
        <p:spPr>
          <a:xfrm>
            <a:off x="6492240" y="3922560"/>
            <a:ext cx="360" cy="146880"/>
          </a:xfrm>
          <a:prstGeom prst="straightConnector1">
            <a:avLst/>
          </a:prstGeom>
          <a:ln w="22225">
            <a:solidFill>
              <a:srgbClr val="1F487C"/>
            </a:solidFill>
            <a:round/>
            <a:tailEnd len="med" type="triangle" w="med"/>
          </a:ln>
        </p:spPr>
      </p:cxnSp>
      <p:sp>
        <p:nvSpPr>
          <p:cNvPr id="235" name="TextBox 35"/>
          <p:cNvSpPr/>
          <p:nvPr/>
        </p:nvSpPr>
        <p:spPr>
          <a:xfrm>
            <a:off x="4297680" y="408744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0" b="1" u="none" strike="noStrike">
                <a:solidFill>
                  <a:srgbClr val="C88A1E"/>
                </a:solidFill>
                <a:effectLst/>
                <a:uFillTx/>
                <a:latin typeface="Calibri"/>
              </a:rPr>
              <a:t>Fertility → Embryo Survival → Hatchability → Wastage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6"/>
          <p:cNvSpPr/>
          <p:nvPr/>
        </p:nvSpPr>
        <p:spPr>
          <a:xfrm>
            <a:off x="4297680" y="448056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</a:pPr>
            <a:r>
              <a:rPr lang="en-US" sz="950" b="1" i="1" u="none" strike="noStrike">
                <a:solidFill>
                  <a:srgbClr val="153357"/>
                </a:solidFill>
                <a:effectLst/>
                <a:uFillTx/>
                <a:latin typeface="Calibri"/>
              </a:rPr>
              <a:t>“Performance will be experimentally evaluated rather than assumed.”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37"/>
          <p:cNvSpPr/>
          <p:nvPr/>
        </p:nvSpPr>
        <p:spPr>
          <a:xfrm>
            <a:off x="9006840" y="960120"/>
            <a:ext cx="2724480" cy="328680"/>
          </a:xfrm>
          <a:prstGeom prst="roundRect">
            <a:avLst>
              <a:gd name="adj" fmla="val 12000"/>
            </a:avLst>
          </a:prstGeom>
          <a:solidFill>
            <a:srgbClr val="1F48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METRICS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38"/>
          <p:cNvSpPr/>
          <p:nvPr/>
        </p:nvSpPr>
        <p:spPr>
          <a:xfrm>
            <a:off x="9006840" y="1289160"/>
            <a:ext cx="2724480" cy="141696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39"/>
          <p:cNvSpPr/>
          <p:nvPr/>
        </p:nvSpPr>
        <p:spPr>
          <a:xfrm>
            <a:off x="9144000" y="1398960"/>
            <a:ext cx="2450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8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Hatchability (%) =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lang="en-US" sz="8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Hatched chicks / Fertile eggs × 100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0"/>
          <p:cNvSpPr/>
          <p:nvPr/>
        </p:nvSpPr>
        <p:spPr>
          <a:xfrm>
            <a:off x="9144000" y="1984320"/>
            <a:ext cx="2450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8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Wastage (%) =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lang="en-US" sz="85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Unhatched fertile eggs / Fertile eggs × 100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41"/>
          <p:cNvSpPr/>
          <p:nvPr/>
        </p:nvSpPr>
        <p:spPr>
          <a:xfrm>
            <a:off x="9006840" y="2834640"/>
            <a:ext cx="2724480" cy="328680"/>
          </a:xfrm>
          <a:prstGeom prst="roundRect">
            <a:avLst>
              <a:gd name="adj" fmla="val 12000"/>
            </a:avLst>
          </a:prstGeom>
          <a:solidFill>
            <a:srgbClr val="1533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6320" tIns="45000" rIns="76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REFERENCES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42"/>
          <p:cNvSpPr/>
          <p:nvPr/>
        </p:nvSpPr>
        <p:spPr>
          <a:xfrm>
            <a:off x="9006840" y="3163680"/>
            <a:ext cx="2724480" cy="22856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CD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43"/>
          <p:cNvSpPr/>
          <p:nvPr/>
        </p:nvSpPr>
        <p:spPr>
          <a:xfrm>
            <a:off x="9144000" y="3291840"/>
            <a:ext cx="24501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83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3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MSU Extension — Hatching Egg Storage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83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3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Aviagen — Storage Guidelines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830" b="1" u="none" strike="noStrike">
                <a:solidFill>
                  <a:srgbClr val="1F487C"/>
                </a:solidFill>
                <a:effectLst/>
                <a:uFillTx/>
                <a:latin typeface="Calibri"/>
              </a:rPr>
              <a:t>•  </a:t>
            </a:r>
            <a:r>
              <a:rPr lang="en-US" sz="830" b="0" u="none" strike="noStrike">
                <a:solidFill>
                  <a:srgbClr val="202428"/>
                </a:solidFill>
                <a:effectLst/>
                <a:uFillTx/>
                <a:latin typeface="Calibri"/>
              </a:rPr>
              <a:t>C-DAC — VEGA ARIES v2.0 Docs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2026-09-11T06:47:38Z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